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Average"/>
      <p:regular r:id="rId10"/>
    </p:embeddedFont>
    <p:embeddedFont>
      <p:font typeface="Oswald"/>
      <p:regular r:id="rId11"/>
      <p:bold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Oswald-regular.fntdata"/><Relationship Id="rId10" Type="http://schemas.openxmlformats.org/officeDocument/2006/relationships/font" Target="fonts/Average-regular.fntdata"/><Relationship Id="rId12" Type="http://schemas.openxmlformats.org/officeDocument/2006/relationships/font" Target="fonts/Oswald-bold.fnt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980f91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980f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Les Bases de Données et les Modèles Relationnels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Qu'est-ce qu'une base de données ? </a:t>
            </a:r>
            <a:endParaRPr/>
          </a:p>
        </p:txBody>
      </p:sp>
      <p:sp>
        <p:nvSpPr>
          <p:cNvPr id="65" name="Google Shape;65;p14"/>
          <p:cNvSpPr txBox="1"/>
          <p:nvPr>
            <p:ph idx="1" type="body"/>
          </p:nvPr>
        </p:nvSpPr>
        <p:spPr>
          <a:xfrm>
            <a:off x="311700" y="1090505"/>
            <a:ext cx="4260300" cy="18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2100">
                <a:solidFill>
                  <a:schemeClr val="dk1"/>
                </a:solidFill>
              </a:rPr>
              <a:t>Définition </a:t>
            </a:r>
            <a:endParaRPr b="1" sz="2100">
              <a:solidFill>
                <a:schemeClr val="dk1"/>
              </a:solidFill>
            </a:endParaRPr>
          </a:p>
          <a:p>
            <a:pPr indent="0" lvl="0" marL="0" rtl="0" algn="l">
              <a:spcBef>
                <a:spcPts val="1600"/>
              </a:spcBef>
              <a:spcAft>
                <a:spcPts val="0"/>
              </a:spcAft>
              <a:buNone/>
            </a:pPr>
            <a:r>
              <a:rPr lang="fr" sz="1600"/>
              <a:t>Une base de données est un ensemble d'informations stockées électroniquement afin de faciliter leur consultation, leur gestion et leur mise à jour.</a:t>
            </a:r>
            <a:endParaRPr sz="1600"/>
          </a:p>
          <a:p>
            <a:pPr indent="0" lvl="0" marL="0" rtl="0" algn="l">
              <a:spcBef>
                <a:spcPts val="1600"/>
              </a:spcBef>
              <a:spcAft>
                <a:spcPts val="1600"/>
              </a:spcAft>
              <a:buNone/>
            </a:pPr>
            <a:r>
              <a:t/>
            </a:r>
            <a:endParaRPr sz="1600"/>
          </a:p>
        </p:txBody>
      </p:sp>
      <p:pic>
        <p:nvPicPr>
          <p:cNvPr id="66" name="Google Shape;66;p14" title="ChatGPT Image 22 juin 2026, 19_00_56.png"/>
          <p:cNvPicPr preferRelativeResize="0"/>
          <p:nvPr/>
        </p:nvPicPr>
        <p:blipFill>
          <a:blip r:embed="rId3">
            <a:alphaModFix/>
          </a:blip>
          <a:stretch>
            <a:fillRect/>
          </a:stretch>
        </p:blipFill>
        <p:spPr>
          <a:xfrm>
            <a:off x="4947238" y="1152475"/>
            <a:ext cx="4050924" cy="2700616"/>
          </a:xfrm>
          <a:prstGeom prst="rect">
            <a:avLst/>
          </a:prstGeom>
          <a:noFill/>
          <a:ln>
            <a:noFill/>
          </a:ln>
        </p:spPr>
      </p:pic>
      <p:sp>
        <p:nvSpPr>
          <p:cNvPr id="67" name="Google Shape;67;p14"/>
          <p:cNvSpPr txBox="1"/>
          <p:nvPr>
            <p:ph idx="2" type="body"/>
          </p:nvPr>
        </p:nvSpPr>
        <p:spPr>
          <a:xfrm>
            <a:off x="308492" y="2825400"/>
            <a:ext cx="4328700" cy="21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2100">
                <a:solidFill>
                  <a:schemeClr val="dk1"/>
                </a:solidFill>
              </a:rPr>
              <a:t>Exemple </a:t>
            </a:r>
            <a:endParaRPr b="1" sz="2100">
              <a:solidFill>
                <a:schemeClr val="dk1"/>
              </a:solidFill>
            </a:endParaRPr>
          </a:p>
          <a:p>
            <a:pPr indent="0" lvl="0" marL="0" rtl="0" algn="l">
              <a:spcBef>
                <a:spcPts val="1600"/>
              </a:spcBef>
              <a:spcAft>
                <a:spcPts val="0"/>
              </a:spcAft>
              <a:buNone/>
            </a:pPr>
            <a:r>
              <a:rPr lang="fr" sz="1600"/>
              <a:t>Une bibliothèque utilise une base de données pour enregistrer :</a:t>
            </a:r>
            <a:endParaRPr sz="1600"/>
          </a:p>
          <a:p>
            <a:pPr indent="-298450" lvl="0" marL="457200" rtl="0" algn="l">
              <a:spcBef>
                <a:spcPts val="1200"/>
              </a:spcBef>
              <a:spcAft>
                <a:spcPts val="0"/>
              </a:spcAft>
              <a:buClr>
                <a:schemeClr val="dk1"/>
              </a:buClr>
              <a:buSzPts val="1100"/>
              <a:buFont typeface="Arial"/>
              <a:buChar char="●"/>
            </a:pPr>
            <a:r>
              <a:rPr lang="fr" sz="1600"/>
              <a:t>Les livres disponibles</a:t>
            </a:r>
            <a:endParaRPr sz="1600"/>
          </a:p>
          <a:p>
            <a:pPr indent="-298450" lvl="0" marL="457200" rtl="0" algn="l">
              <a:spcBef>
                <a:spcPts val="0"/>
              </a:spcBef>
              <a:spcAft>
                <a:spcPts val="0"/>
              </a:spcAft>
              <a:buClr>
                <a:schemeClr val="dk1"/>
              </a:buClr>
              <a:buSzPts val="1100"/>
              <a:buFont typeface="Arial"/>
              <a:buChar char="●"/>
            </a:pPr>
            <a:r>
              <a:rPr lang="fr" sz="1600"/>
              <a:t>Les auteurs</a:t>
            </a:r>
            <a:endParaRPr sz="1600"/>
          </a:p>
          <a:p>
            <a:pPr indent="-298450" lvl="0" marL="457200" rtl="0" algn="l">
              <a:spcBef>
                <a:spcPts val="0"/>
              </a:spcBef>
              <a:spcAft>
                <a:spcPts val="0"/>
              </a:spcAft>
              <a:buClr>
                <a:schemeClr val="dk1"/>
              </a:buClr>
              <a:buSzPts val="1100"/>
              <a:buFont typeface="Arial"/>
              <a:buChar char="●"/>
            </a:pPr>
            <a:r>
              <a:rPr lang="fr" sz="1600"/>
              <a:t>Les emprunts des utilisateurs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Pourquoi les bases de données sont-elles importantes ? </a:t>
            </a:r>
            <a:endParaRPr/>
          </a:p>
        </p:txBody>
      </p:sp>
      <p:grpSp>
        <p:nvGrpSpPr>
          <p:cNvPr id="73" name="Google Shape;73;p15"/>
          <p:cNvGrpSpPr/>
          <p:nvPr/>
        </p:nvGrpSpPr>
        <p:grpSpPr>
          <a:xfrm>
            <a:off x="424825" y="1253922"/>
            <a:ext cx="8294372" cy="956223"/>
            <a:chOff x="424813" y="1177875"/>
            <a:chExt cx="8294372" cy="849900"/>
          </a:xfrm>
        </p:grpSpPr>
        <p:sp>
          <p:nvSpPr>
            <p:cNvPr id="74" name="Google Shape;74;p15"/>
            <p:cNvSpPr/>
            <p:nvPr/>
          </p:nvSpPr>
          <p:spPr>
            <a:xfrm>
              <a:off x="2927684" y="1177875"/>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424813" y="117787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5"/>
          <p:cNvSpPr txBox="1"/>
          <p:nvPr>
            <p:ph idx="4294967295" type="body"/>
          </p:nvPr>
        </p:nvSpPr>
        <p:spPr>
          <a:xfrm>
            <a:off x="539675" y="1254247"/>
            <a:ext cx="2781000" cy="956100"/>
          </a:xfrm>
          <a:prstGeom prst="rect">
            <a:avLst/>
          </a:prstGeom>
        </p:spPr>
        <p:txBody>
          <a:bodyPr anchorCtr="0" anchor="ctr" bIns="91425" lIns="91425" spcFirstLastPara="1" rIns="91425" wrap="square" tIns="91425">
            <a:noAutofit/>
          </a:bodyPr>
          <a:lstStyle/>
          <a:p>
            <a:pPr indent="-342900" lvl="0" marL="457200" rtl="0" algn="l">
              <a:lnSpc>
                <a:spcPct val="100000"/>
              </a:lnSpc>
              <a:spcBef>
                <a:spcPts val="0"/>
              </a:spcBef>
              <a:spcAft>
                <a:spcPts val="0"/>
              </a:spcAft>
              <a:buClr>
                <a:schemeClr val="lt1"/>
              </a:buClr>
              <a:buSzPts val="1800"/>
              <a:buAutoNum type="arabicPeriod"/>
            </a:pPr>
            <a:r>
              <a:rPr lang="fr">
                <a:solidFill>
                  <a:schemeClr val="lt1"/>
                </a:solidFill>
              </a:rPr>
              <a:t>Organisation des données </a:t>
            </a:r>
            <a:endParaRPr>
              <a:solidFill>
                <a:schemeClr val="lt1"/>
              </a:solidFill>
            </a:endParaRPr>
          </a:p>
        </p:txBody>
      </p:sp>
      <p:sp>
        <p:nvSpPr>
          <p:cNvPr id="77" name="Google Shape;77;p15"/>
          <p:cNvSpPr txBox="1"/>
          <p:nvPr>
            <p:ph idx="4294967295" type="body"/>
          </p:nvPr>
        </p:nvSpPr>
        <p:spPr>
          <a:xfrm>
            <a:off x="3480451" y="1254188"/>
            <a:ext cx="5238600" cy="95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solidFill>
                  <a:schemeClr val="lt1"/>
                </a:solidFill>
              </a:rPr>
              <a:t>Les bases de données permettent de stocker les informations de manière structurée, ce qui facilite leur recherche et leur gestion. </a:t>
            </a:r>
            <a:endParaRPr>
              <a:solidFill>
                <a:schemeClr val="lt1"/>
              </a:solidFill>
            </a:endParaRPr>
          </a:p>
        </p:txBody>
      </p:sp>
      <p:grpSp>
        <p:nvGrpSpPr>
          <p:cNvPr id="78" name="Google Shape;78;p15"/>
          <p:cNvGrpSpPr/>
          <p:nvPr/>
        </p:nvGrpSpPr>
        <p:grpSpPr>
          <a:xfrm>
            <a:off x="424851" y="2590365"/>
            <a:ext cx="8295189" cy="956138"/>
            <a:chOff x="424813" y="2075689"/>
            <a:chExt cx="8294360" cy="849900"/>
          </a:xfrm>
        </p:grpSpPr>
        <p:sp>
          <p:nvSpPr>
            <p:cNvPr id="79" name="Google Shape;79;p15"/>
            <p:cNvSpPr/>
            <p:nvPr/>
          </p:nvSpPr>
          <p:spPr>
            <a:xfrm>
              <a:off x="2927672" y="2075689"/>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424813" y="2075689"/>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5"/>
          <p:cNvSpPr txBox="1"/>
          <p:nvPr>
            <p:ph idx="4294967295" type="body"/>
          </p:nvPr>
        </p:nvSpPr>
        <p:spPr>
          <a:xfrm>
            <a:off x="539691" y="2590506"/>
            <a:ext cx="2422500" cy="955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fr" sz="1800">
                <a:solidFill>
                  <a:schemeClr val="lt1"/>
                </a:solidFill>
              </a:rPr>
              <a:t>  2. 	Efficacité </a:t>
            </a:r>
            <a:endParaRPr sz="1800">
              <a:solidFill>
                <a:schemeClr val="lt1"/>
              </a:solidFill>
            </a:endParaRPr>
          </a:p>
        </p:txBody>
      </p:sp>
      <p:sp>
        <p:nvSpPr>
          <p:cNvPr id="82" name="Google Shape;82;p15"/>
          <p:cNvSpPr txBox="1"/>
          <p:nvPr>
            <p:ph idx="4294967295" type="body"/>
          </p:nvPr>
        </p:nvSpPr>
        <p:spPr>
          <a:xfrm>
            <a:off x="3480644" y="2590523"/>
            <a:ext cx="5112000" cy="95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1800">
                <a:solidFill>
                  <a:schemeClr val="lt1"/>
                </a:solidFill>
              </a:rPr>
              <a:t>Elles permettent d'accéder rapidement aux informations et d'automatiser de nombreuses tâches, ce qui fait gagner du temps. </a:t>
            </a:r>
            <a:endParaRPr sz="1800">
              <a:solidFill>
                <a:schemeClr val="lt1"/>
              </a:solidFill>
            </a:endParaRPr>
          </a:p>
        </p:txBody>
      </p:sp>
      <p:grpSp>
        <p:nvGrpSpPr>
          <p:cNvPr id="83" name="Google Shape;83;p15"/>
          <p:cNvGrpSpPr/>
          <p:nvPr/>
        </p:nvGrpSpPr>
        <p:grpSpPr>
          <a:xfrm>
            <a:off x="424826" y="3841713"/>
            <a:ext cx="8294360" cy="952010"/>
            <a:chOff x="424813" y="2974405"/>
            <a:chExt cx="8294360" cy="849933"/>
          </a:xfrm>
        </p:grpSpPr>
        <p:sp>
          <p:nvSpPr>
            <p:cNvPr id="84" name="Google Shape;84;p15"/>
            <p:cNvSpPr/>
            <p:nvPr/>
          </p:nvSpPr>
          <p:spPr>
            <a:xfrm>
              <a:off x="2927672" y="2974438"/>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424813" y="297440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15"/>
          <p:cNvSpPr txBox="1"/>
          <p:nvPr>
            <p:ph idx="4294967295" type="body"/>
          </p:nvPr>
        </p:nvSpPr>
        <p:spPr>
          <a:xfrm>
            <a:off x="539674" y="3841625"/>
            <a:ext cx="2422500" cy="951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fr">
                <a:solidFill>
                  <a:schemeClr val="lt1"/>
                </a:solidFill>
              </a:rPr>
              <a:t>  3.	 Sécurité </a:t>
            </a:r>
            <a:endParaRPr>
              <a:solidFill>
                <a:schemeClr val="lt1"/>
              </a:solidFill>
            </a:endParaRPr>
          </a:p>
        </p:txBody>
      </p:sp>
      <p:sp>
        <p:nvSpPr>
          <p:cNvPr id="87" name="Google Shape;87;p15"/>
          <p:cNvSpPr txBox="1"/>
          <p:nvPr>
            <p:ph idx="4294967295" type="body"/>
          </p:nvPr>
        </p:nvSpPr>
        <p:spPr>
          <a:xfrm>
            <a:off x="3480450" y="3845850"/>
            <a:ext cx="5238600" cy="951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solidFill>
                  <a:schemeClr val="lt1"/>
                </a:solidFill>
              </a:rPr>
              <a:t>Les bases de données protègent les informations grâce à des systèmes d'authentification et de contrôle d'accès qui limitent les utilisateurs autorisés. </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Conclusion </a:t>
            </a:r>
            <a:endParaRPr/>
          </a:p>
        </p:txBody>
      </p:sp>
      <p:sp>
        <p:nvSpPr>
          <p:cNvPr id="93" name="Google Shape;93;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fr"/>
              <a:t>Les bases de données jouent un rôle essentiel dans le stockage et la gestion des informations. Elles permettent d'organiser les données, d'améliorer l'efficacité du travail et de garantir la sécurité des informations. Aujourd'hui, elles sont utilisées dans presque tous les secteurs, tels que les entreprises, les banques, les hôpitaux et les écoles.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